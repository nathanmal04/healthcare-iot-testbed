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6A3B3E-65B5-4E05-A268-4201271F7721}">
  <a:tblStyle styleId="{806A3B3E-65B5-4E05-A268-4201271F77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E8D7B3F-2419-4DCB-A51A-DF278586F0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33f2c9fab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33f2c9fab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22ee2a4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22ee2a4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efc518e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efc518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9022ee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9022ee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9022ee4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89022ee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9022ee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9022ee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9022ee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9022ee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40f1507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40f1507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9022ee4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89022ee4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cefc518e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cefc518e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41496ce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41496ce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812f8c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812f8c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1496ce2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41496ce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adf25b5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6adf25b5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41496ce2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41496ce2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4069bc2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4069bc2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1">
  <p:cSld name="Main Content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mpact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2">
  <p:cSld name="Main Content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18259" y="1369219"/>
            <a:ext cx="7509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3">
  <p:cSld name="Main Content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21992" y="1369219"/>
            <a:ext cx="3653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174738" y="1369219"/>
            <a:ext cx="3653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5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4">
  <p:cSld name="Main Content4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23183" y="1260872"/>
            <a:ext cx="36513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323183" y="1878806"/>
            <a:ext cx="3646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3" type="body"/>
          </p:nvPr>
        </p:nvSpPr>
        <p:spPr>
          <a:xfrm>
            <a:off x="4176782" y="1260872"/>
            <a:ext cx="36513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6" name="Google Shape;36;p5"/>
          <p:cNvSpPr txBox="1"/>
          <p:nvPr>
            <p:ph idx="4" type="body"/>
          </p:nvPr>
        </p:nvSpPr>
        <p:spPr>
          <a:xfrm>
            <a:off x="4181707" y="1878806"/>
            <a:ext cx="3646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5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6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7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5">
  <p:cSld name="Main Content5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23183" y="1260872"/>
            <a:ext cx="2419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323182" y="1878806"/>
            <a:ext cx="24141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2862871" y="1260872"/>
            <a:ext cx="2419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2868652" y="1878806"/>
            <a:ext cx="24141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5" type="body"/>
          </p:nvPr>
        </p:nvSpPr>
        <p:spPr>
          <a:xfrm>
            <a:off x="5408341" y="1260872"/>
            <a:ext cx="2419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5408340" y="1878806"/>
            <a:ext cx="2419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6">
  <p:cSld name="Main Content6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7">
  <p:cSld name="Main Content7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3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ght gray abstract background with a red bar along the bottom and the Florida Tech logo in the bottom right corner.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Impact"/>
              <a:buNone/>
              <a:defRPr b="0" i="0" sz="33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8260" y="1369219"/>
            <a:ext cx="7509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318259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1605775" y="4767263"/>
            <a:ext cx="45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Healthcare/IoT Cybersecurity Testbed: Semester 2 Project Plan</a:t>
            </a:r>
            <a:endParaRPr/>
          </a:p>
        </p:txBody>
      </p:sp>
      <p:sp>
        <p:nvSpPr>
          <p:cNvPr id="69" name="Google Shape;69;p10"/>
          <p:cNvSpPr txBox="1"/>
          <p:nvPr>
            <p:ph idx="1" type="subTitle"/>
          </p:nvPr>
        </p:nvSpPr>
        <p:spPr>
          <a:xfrm>
            <a:off x="1366350" y="2797175"/>
            <a:ext cx="64113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By: Justin Bower, Nathan Maloney, and Ipule Pipi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Instructors/Advisors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Dr. Sudhakaran and Dr. Aydeger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125" y="-28475"/>
            <a:ext cx="6657739" cy="483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3">
            <a:alphaModFix/>
          </a:blip>
          <a:srcRect b="0" l="3355" r="1867" t="-1513"/>
          <a:stretch/>
        </p:blipFill>
        <p:spPr>
          <a:xfrm>
            <a:off x="1055650" y="198400"/>
            <a:ext cx="6588424" cy="45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System Features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8259" y="1369219"/>
            <a:ext cx="75099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connect a variety of IoT and medical devices that use standard interfaces, wired or wireless, to the testbed, enabling full device access, interaction, and manipulation.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extract firmware directly from connected IoT and medical devices, obtaining complete firmware/binaries for detailed examination and vulnerability assessment.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analyze firmware entropy to evaluate randomness and compression characteristics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utilize industry-standard open-source tools to perform reverse-engineering tasks and comprehensive vulnerability research.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input their own CVE lists, and automatically retrieve lists of known CVEs, which are stored server-side in a database.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utilize pre-made scripts or upload custom exploitation scripts to rapidly test known, suspected, or new vulnerabilities, and potential attack vectors.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perform all connection, extraction, analysis, and exploitation tasks through an intuitive client-side graphical interface, thereby streamlining the process for both novice and experienced users.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•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Users can create and upload documentation, or integrate existing documentation via GitHub, with all materials stored in server-side storage.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this novel?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18259" y="1369219"/>
            <a:ext cx="75099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testbed that tightly integrates many disparate tools, automates firmware extraction, firmware analysis, entropy analysis, decryption, into one platform, is a novel approach to cybersecurity analysis.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reduces the background knowledge needed for manufacturers or researchers to reverse-engineer Medical/IoT devices while unifying the reverse-engineering toolset.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is specifically tailored for IoT and medical hardware, which is often proprietary and notoriously difficult to analyze.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allows for direct firmware extraction from connected devices via standard interfaces and therefore streamlines the process of obtaining firmware/binaries for vulnerability assessment.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allows for built-in entropy analysis combined with pre-existing decryption techniques to uncover encrypted or obfuscated firmware sections more efficiently.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this novel?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8259" y="1369219"/>
            <a:ext cx="75099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has support for both ready-made exploitation scripts and user-developed custom scripts provides flexibility to confirm known weaknesses or explore new attack vectors.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will have backend/web support for supporting the local GUI that lowers the barrier to entry so that both novice and experienced users can perform complex tasks with greater ease.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 will have documentation storage and a CVE database with associated automations, accelerating the research process via targeted testing, and expedited sharing of results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testbed’s benefits scale with the difficulty of reverse-engineering each device and contribute to a more secure future for IoT and Medical devices by making thorough examination more accessible.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we will be using?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8250" y="1369225"/>
            <a:ext cx="87000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00">
                <a:latin typeface="Times New Roman"/>
                <a:ea typeface="Times New Roman"/>
                <a:cs typeface="Times New Roman"/>
                <a:sym typeface="Times New Roman"/>
              </a:rPr>
              <a:t>Overall Project/Multi-purpose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Github: Version control and code collaboration tool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VSCode: IDE for general development, testing, and demo purposes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VSCode Dev Container: Standardized development environment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Python: Ideal for scripting purposes and simple integrations with many tools via pre-existing libraries/APIs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00">
                <a:latin typeface="Times New Roman"/>
                <a:ea typeface="Times New Roman"/>
                <a:cs typeface="Times New Roman"/>
                <a:sym typeface="Times New Roman"/>
              </a:rPr>
              <a:t>Communication: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Email: Official correspondence and sending attachments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Discord: More informal communication for day-to-day planning and coordination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we will be using?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18250" y="1369225"/>
            <a:ext cx="87000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Reverse Engineering Tools: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Ghidra: Open source tool for binary/firmware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Wireshark/Tshark (GUI and CLI): Open source tool for network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Binwalk CLI: Useful for examining files, extracting sub-files, and entropy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Foremost CLI: Useful for examining files, extracting sub-files, and entropy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GDB/pwndbg: Useful for low-level Assembly-language reverse engineering and vulnerability research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Adafruit nRF51822-based Bluefruit LE Sniffer: USB device, drivers, and matching API for network capture (Bluetooth traffic logging as pcap files)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Various Wireless Adapters: USB device, drivers, and matching API for network capture (Wifi/RF traffic logging as pcap files)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EEPROM and Live Chipset Reader: Useful for pulling firmware directly off PCBS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Soldering irons: For connecting and disconnecting electrical connections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Solder wiring (lead or non lead): For establishing and holding electrical connections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Copper wick: For wiping unused/excess solder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Alligator clips: For holding PCBs and providing temporary connections where soldering is unnecessary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•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Overhead lights: To provide clarity when soldering and doing smaller electrical tasks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we will be using?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8259" y="1369219"/>
            <a:ext cx="75099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i="1" lang="en" sz="1120">
                <a:latin typeface="Times New Roman"/>
                <a:ea typeface="Times New Roman"/>
                <a:cs typeface="Times New Roman"/>
                <a:sym typeface="Times New Roman"/>
              </a:rPr>
              <a:t>Frontend and Backend Tools: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React: Frontend of website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TailwindCSS: Styling of website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JavaScript/TypeScript: Website base language/API calling functionality  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Terraform: Deployment of services to cloud in a reproducible fashion that allows for easy transfer of the stack to a different AWS account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Amazon Web Services (AWS): Provides web server hosting, database backend, and other miscellaneous compute needs listed below: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Docker: Isolates tasks for security, ease of deployment and platform management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DynamoDB: Database architecture backbone; keeps data organized, minimizes storage space complexity and computational overhead via data structuring 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S3 Object Storage: Simple artifact storage and web hosting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Instance Lambda Functions: Used to optimize speed of repetitive tasks and minimize memory space complexity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Durable Lambda Functions: Allows for easier control of long running cloud analysis that may involve waiting for user input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API Gateway: Allows for a secure connection between local and cloud applications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Cloudfront: Improved web latency and increased max traffic capacity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72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20"/>
              <a:buFont typeface="Times New Roman"/>
              <a:buChar char="•"/>
            </a:pPr>
            <a:r>
              <a:rPr lang="en" sz="1120">
                <a:latin typeface="Times New Roman"/>
                <a:ea typeface="Times New Roman"/>
                <a:cs typeface="Times New Roman"/>
                <a:sym typeface="Times New Roman"/>
              </a:rPr>
              <a:t>Cognito: AWS managed sign on portal with authentication tokens and account management</a:t>
            </a:r>
            <a:endParaRPr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7972825" y="3814950"/>
            <a:ext cx="1171200" cy="132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4 Task Matrix</a:t>
            </a:r>
            <a:endParaRPr/>
          </a:p>
        </p:txBody>
      </p:sp>
      <p:graphicFrame>
        <p:nvGraphicFramePr>
          <p:cNvPr id="122" name="Google Shape;122;p19"/>
          <p:cNvGraphicFramePr/>
          <p:nvPr/>
        </p:nvGraphicFramePr>
        <p:xfrm>
          <a:off x="318250" y="101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{806A3B3E-65B5-4E05-A268-4201271F7721}</a:tableStyleId>
              </a:tblPr>
              <a:tblGrid>
                <a:gridCol w="1233125"/>
                <a:gridCol w="1233125"/>
                <a:gridCol w="1233125"/>
                <a:gridCol w="1233125"/>
                <a:gridCol w="1233125"/>
                <a:gridCol w="1233125"/>
                <a:gridCol w="1233125"/>
              </a:tblGrid>
              <a:tr h="67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Responsibility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1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2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3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4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5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Reverse Engineering, Vulnerability Research, Cyber Tooling/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Demos, Local GUI, Project management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 a demo of the Adafruit device and pcap file extraction using Wireshark/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Tshark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CVE Research for wifi chipsets and enter said CVEs into the database for demo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 I2C sensor and plan integration into project, such as an oximeter demo, and planning how it will interface in the main project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Respond to professors emails, communicate/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coordinate with team members, attend professor meetings, create, and write most of the Project Plan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Wipe the lab computer and install Linux (Got permission already)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Nathan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Web/Database Backend and Demos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 the infrastructure to allow for cloud based analysis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 a demo of cloud based analysis of device attack results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 artifact storage and database with local and cloud infrastructure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 secure API endpoints to allow local and cloud applications to interact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router for testbed and interfacing devices in the network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7972825" y="3814950"/>
            <a:ext cx="1171200" cy="132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69600" y="6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{FE8D7B3F-2419-4DCB-A51A-DF278586F0CA}</a:tableStyleId>
              </a:tblPr>
              <a:tblGrid>
                <a:gridCol w="977150"/>
                <a:gridCol w="1402875"/>
                <a:gridCol w="1465525"/>
                <a:gridCol w="1340225"/>
                <a:gridCol w="1440500"/>
                <a:gridCol w="1415400"/>
                <a:gridCol w="1102350"/>
              </a:tblGrid>
              <a:tr h="321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Ipule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Front End and Cloud Backend Integration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the authenticated device management workflow for adding and viewing IoT/medical devices through the web dashboard.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 device creation and retrieval with AWS API Gateway, Lambda, DynamoDB, and Cognito so device records are associated with the authenticated user.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 the end-to-end firmware upload workflow, including firmware reservation, SHA-256 metadata, presigned S3 upload, upload completion verification, and retry support for interrupted upload attempts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 the firmware viewing interface so users can retrieve and display firmware metadata, upload status, filename, version, file size, and other associated information for each registered device.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Strengthen firmware upload state management and authorization by using firmware/attempt identifiers to prevent stale or conflicting retries and ensure users can access only their own devices and firmware.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32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Jordan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RE/VR, Cyber Tooling/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Demos, Local GUI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GUI work so users can trigger the RE/analysis/exploitation tools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 developing pre-made exploitation scripts for GDB/pwndbg (ret2*)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 pre-made exploitation scripts for Ghidra and/or integrate existing Ghidra scripts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Begin live firmware extraction using EEPROM/chipset readers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 necessary tools on Linux machine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5 Tasks</a:t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-109250" y="980075"/>
            <a:ext cx="8629500" cy="3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Ipule - Web Front End and Cloud Backend Integration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the firmware-analysis workflow into the web dashboard so a user can select an uploaded firmware image and initiate an analysis job.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frontend interfaces for viewing analysis jobs, execution status, and generated results associated with a specific device and firmware version.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the dashboard with the backend analysis APIs and storage architecture developed by the team, including retrieval of analysis outputs and artifacts.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device and firmware workflow state handling by displaying clear pending, ready, processing, completed, and failed states where applicable.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user interface protections and validation for analysis actions so jobs can only be started against valid firmware owned by the authenticated user.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Nathan - Web/Database Backend and Demos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proof of concept docker/sidecar deployments are properly set up with the tooling of the DS18B20 I2C sensor work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Starting working for DS18B20 I2C sensor (and similar sensor’s) exploitation can be verified by a new user through their own replication of the pipeline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security of tooling and platform itself, as part of the containerization and isolation of environment</a:t>
            </a:r>
            <a:endParaRPr sz="2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318250" y="1268050"/>
            <a:ext cx="71838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Justin - RE/VR, Cyber Tooling/Demos, Local GUI, Project Management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integrating Adafruit and Wireshark/Tshark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development of pre-made exploitation scripts for wifi/bluetooth exploitation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project/team members moving and ensure Professors (customers) are happy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email/Discord communications constantly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intermediate start-to-finish proof of concept demo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Jordan - RE/VR, Cyber Tooling/Demos, Local GUI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local GUI work so users can trigger the RE/analysis/exploitation tools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out Ghidra-based reverse engineering workflows for extracted firmware, producing analysis outputs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integrate entropy analysis and file segmentation tools (Binwalk/Foremost)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development of pre-made exploitation scripts for wifi/bluetooth exploitation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I2C sensor integration into project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5 Tasks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6 Tasks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-102900" y="867350"/>
            <a:ext cx="9398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Ipule - Web Front End and Cloud Backend Integration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the end-to-end web workflow from device registration and firmware upload through analysis execution and result retrieval.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available reverse-engineering and vulnerability-analysis outputs into the dashboard, such as extracted firmware information, entropy results, discovered files, vulnerabilities, or generated artifacts provided by the analysis backend.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the dashboard user experience by organizing devices, firmware versions, analysis jobs, and outputs into a clear workflow suitable for researchers and manufacturers.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integration and edge-case testing of authentication, device ownership, firmware upload/retry behavior, analysis initiation, and result retrieval.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the web application for the final project demonstration by resolving integration issues, improving error handling, and documenting/demoing the complete user workflow. 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Jordan - RE/VR, Cyber Tooling/Demos, Local GUI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device connections, to firmware extractions, to entropy/decryption, to exploitation/analysis paths, creating multiple local pipelines that feeds results to the web backend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local GUI work so users can trigger the RE/analysis/exploitation tools locally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and test the exploitation scripts against real device/firmware data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●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demos of the cyber tooling integrations for the final presentation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-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GDB/pwndbg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625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Times New Roman"/>
              <a:buChar char="-"/>
            </a:pPr>
            <a:r>
              <a:rPr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Ghidra demo</a:t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4" type="body"/>
          </p:nvPr>
        </p:nvSpPr>
        <p:spPr>
          <a:xfrm>
            <a:off x="6445405" y="4767263"/>
            <a:ext cx="10287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 txBox="1"/>
          <p:nvPr>
            <p:ph type="title"/>
          </p:nvPr>
        </p:nvSpPr>
        <p:spPr>
          <a:xfrm>
            <a:off x="318260" y="273844"/>
            <a:ext cx="75099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6 Tasks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318250" y="1135375"/>
            <a:ext cx="89724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Justin - RE/VR, Cyber Tooling/Demos, Local GUI, Project Management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CVE entries and RE documentation for the final demo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demos of the cyber tooling integrations for the final presentation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Adafruit/Wireshark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Binwalk/Foremost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 full end-to-end RE demo (through aforementioned local pipelines) for the final presentation as a video recording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project/team members moving to ensure Professors are satisfied with progress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email/Discord communications constantly with team members and Professors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Nathan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AWS permissions and backend security using least-privilege access.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integration between local analysis tools, cloud services, S3, DynamoDB, and the web application.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and test containerized cloud analysis and isolation.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end-to-end testing and prepare the cloud/backend workflow for the final demo.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1105099" y="617925"/>
            <a:ext cx="7080600" cy="3313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Thanks for listening!</a:t>
            </a:r>
            <a:endParaRPr sz="6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			Questions?</a:t>
            </a:r>
            <a:endParaRPr sz="6400"/>
          </a:p>
        </p:txBody>
      </p:sp>
      <p:sp>
        <p:nvSpPr>
          <p:cNvPr id="159" name="Google Shape;159;p25"/>
          <p:cNvSpPr txBox="1"/>
          <p:nvPr/>
        </p:nvSpPr>
        <p:spPr>
          <a:xfrm>
            <a:off x="1700125" y="961325"/>
            <a:ext cx="196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in Content">
  <a:themeElements>
    <a:clrScheme name="FL Tech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30C2C"/>
      </a:accent1>
      <a:accent2>
        <a:srgbClr val="AB936C"/>
      </a:accent2>
      <a:accent3>
        <a:srgbClr val="A5A5A5"/>
      </a:accent3>
      <a:accent4>
        <a:srgbClr val="F39028"/>
      </a:accent4>
      <a:accent5>
        <a:srgbClr val="00556B"/>
      </a:accent5>
      <a:accent6>
        <a:srgbClr val="FBC544"/>
      </a:accent6>
      <a:hlink>
        <a:srgbClr val="084771"/>
      </a:hlink>
      <a:folHlink>
        <a:srgbClr val="5D22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